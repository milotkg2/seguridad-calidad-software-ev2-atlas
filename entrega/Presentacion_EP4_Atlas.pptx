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ntexto" id="{d8301a66-75af-4f17-7685-ee3ddca6887f}">
          <p14:sldIdLst>
            <p14:sldId id="256"/>
            <p14:sldId id="257"/>
            <p14:sldId id="258"/>
            <p14:sldId id="259"/>
          </p14:sldIdLst>
        </p14:section>
        <p14:section name="Estrategia" id="{d9075787-cbc0-beca-094d-290a71ae60f9}">
          <p14:sldIdLst>
            <p14:sldId id="260"/>
            <p14:sldId id="261"/>
            <p14:sldId id="262"/>
          </p14:sldIdLst>
        </p14:section>
        <p14:section name="Resultados" id="{90d6746a-1154-c7ba-f3ae-7de713894ca2}">
          <p14:sldIdLst>
            <p14:sldId id="263"/>
            <p14:sldId id="264"/>
            <p14:sldId id="265"/>
          </p14:sldIdLst>
        </p14:section>
        <p14:section name="Cierre" id="{6f7e21da-7238-be5c-84e3-f0311af1095a}">
          <p14:sldIdLst>
            <p14:sldId id="266"/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CAMILO (~20 s). Buenas. Somos el grupo de ISY1102: Camilo Romero, Alison Aranda y Macarena Muñoz. Presentamos la verificación de calidad, seguridad y cumplimiento sobre la API de Alumnos, laboratorio 15-all. Yo abro con contexto y estrategia; Alison muestra la ejecución; Macarena cierra con ética, recomendaciones y veredicto.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CAMILO (~15 s). Orden: sistema bajo prueba, de EP01 a EP3, estrategia y tipos de prueba, herramientas, resultados reales, incidentes y cierre normativo.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CAMILO (~40 s). Microservicio Spring Boot 3 con Maven y SQLite. CRUD /api/v1/alumnos con OpenAPI, Swagger y Redoc; arquitectura limpia: dominio, aplicación e infraestructura. 15-all concentra todas las tecnologías del curso; los módulos con-error y sin-error sirven para contrastar. Maneja RUT, nombre y email: aplicamos Ley 19.628 / 21.719.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CAMILO (~35 s). En EP01 diseñamos el plan de pruebas. Ahora no partimos de cero: heredamos estrategia, tipos, criterios y trazabilidad y los ejecutamos. El cambio clave es pasar del diseño a la evidencia.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CAMILO (~25 s). Enfoque mixto: automatizado con Maven/CI y revisión manual de reportes. Prioridad: estáticos, unitarias, SCA y contenedor, DAST, carga. Seguridad y normativa son parte del aseguramiento, no un anexo.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CAMILO (~50 s). Indicador de mayor peso (IE4, 38 %): origen e impacto de cada tipo. SAST nace de la deuda y bugs ocultos. Unitarias + PIT/JaCoCo validan el CRUD y la fuerza real de los tests. BDD expresa reglas como el RUT único. Snyk: CVE en dependencias Maven. Docker + Trivy: desplegar seguro; si se omite, CVE del SO o root. ZAP: runtime (cabeceras, XSS, clickjacking). Gatling/JMeter: SLA bajo carga. Traspaso: 'Con el enfoque cerrado, Alison muestra las herramientas y lo que obtuvimos al ejecutar.'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ALISON (~35 s). Pipeline 01 a 14. Cada herramienta cubre un riesgo distinto: no es usar muchas tools, es cerrar huecos del ciclo. Snyk mira dependencias del pom.xml; Trivy mira paquetes del SO de la imagen.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ALISON (~70 s). Windows con JDK 21. mvn clean verify: BUILD SUCCESS, 46 tests, cero fallos. PIT mató 94 % de mutaciones (16/17), sobre el umbral de 80 %. Funcional: 201, 409, 204, 404. Gatling: 10 OK, media 12 ms. JMeter: 10 OK, 0 errores. ZAP: FAIL 0, PASS 58. JaCoCo 100 % no es calidad total: la fuerza se mide con PIT.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ALISON (~20 s). Imagen alumnos-api:1.0.0 sobre eclipse-temurin:21-jre-alpine, usuario no-root. Smoke test a /api/v1/alumnos: 200. Trivy (OS, CRITICAL/HIGH): 0 hallazgos. El multi-stage original falló por Spotless CRLF/LF entre Windows y Linux; se documentó y se usó un build runtime con el JAR ya validado. Evidencia en trabajo-grupo/evidencias/docker/.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ALISON (~55 s). INC-01 moderado: Spotless falló por CRLF en Windows; el gate de formato corta el build; se cerró con spotless:apply. INC-02 grave: con Java 24 Mockito no pudo mockear el use case (16 errores); entorno distinto al requisito JDK 21; no se podía demostrar el Quality Gate; se instaló Temurin 21. También contrastamos con-error vs 15-all remediado. Traspaso: 'Con la evidencia y los incidentes sobre la mesa, Macarena cierra con ética, normas y veredicto.'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MACARENA (~70 s). Principios: confidencialidad con datos de prueba; veracidad al reportar Spotless y Java 24; no maleficencia y divulgación responsable (escaneos solo en QA local); mejora continua. Normativa: 19.628/21.719 datos personales; 21.663 ciberseguridad; OWASP e ISO 25010/27001/29119. Cada incidente se vincula a impacto técnico y legal.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MACARENA (~45 s). 1) JDK 21 fijo en equipo y CI. 2) .gitattributes eol=lf y Spotless en pre-commit. 3) Completar SonarQube y Snyk con tokens. 4) Autenticación si la API sale del lab. 5) Actualizar Spring Boot ante CVE transitivas documentadas en .snyk.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MACARENA (~45 s). Veredicto: con JDK 21, 15-all cumple los criterios de calidad, seguridad dinámica y rendimiento del laboratorio. De diseñar en EP01 a ejecutar con evidencia. Riesgos residuales: falta de autenticación y CVE transitivas aceptadas en .snyk. Cierre: Somos Alison, Camilo y Macarena. Quedamos atentos a sus preguntas. Gracias.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ULO_OSCURO">
    <p:bg>
      <p:bgPr>
        <a:solidFill>
          <a:srgbClr val="1022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LO_TI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ISY1102 · API de Alumnos 15-all · EP4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ERRE_OSCURO">
    <p:bg>
      <p:bgPr>
        <a:solidFill>
          <a:srgbClr val="1022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rculo decorativo grande"/>
          <p:cNvSpPr/>
          <p:nvPr/>
        </p:nvSpPr>
        <p:spPr>
          <a:xfrm>
            <a:off x="5669280" y="548640"/>
            <a:ext cx="4206240" cy="4206240"/>
          </a:xfrm>
          <a:prstGeom prst="ellipse">
            <a:avLst/>
          </a:prstGeom>
          <a:solidFill>
            <a:schemeClr val="accent2">
              <a:alpha val="8000"/>
            </a:schemeClr>
          </a:solidFill>
          <a:ln/>
        </p:spPr>
        <p:txBody>
          <a:bodyPr/>
          <a:p/>
        </p:txBody>
      </p:sp>
      <p:sp>
        <p:nvSpPr>
          <p:cNvPr id="3" name="Círculo decorativo medio"/>
          <p:cNvSpPr/>
          <p:nvPr/>
        </p:nvSpPr>
        <p:spPr>
          <a:xfrm>
            <a:off x="6309360" y="1188720"/>
            <a:ext cx="2926080" cy="2926080"/>
          </a:xfrm>
          <a:prstGeom prst="ellipse">
            <a:avLst/>
          </a:prstGeom>
          <a:solidFill>
            <a:schemeClr val="accent2">
              <a:alpha val="15000"/>
            </a:schemeClr>
          </a:solidFill>
          <a:ln/>
        </p:spPr>
        <p:txBody>
          <a:bodyPr/>
          <a:p/>
        </p:txBody>
      </p:sp>
      <p:sp>
        <p:nvSpPr>
          <p:cNvPr id="4" name="Círculo escudo"/>
          <p:cNvSpPr/>
          <p:nvPr/>
        </p:nvSpPr>
        <p:spPr>
          <a:xfrm>
            <a:off x="6858000" y="1737360"/>
            <a:ext cx="1828800" cy="18288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p/>
        </p:txBody>
      </p:sp>
      <p:pic>
        <p:nvPicPr>
          <p:cNvPr id="5" name="Icono escud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2240280"/>
            <a:ext cx="822960" cy="8229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40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2"/>
                </a:solidFill>
              </a:rPr>
              <a:t>ISY1102 · EP4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097280"/>
            <a:ext cx="5669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Atlas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Clientes, contratos y documentos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60604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2"/>
                </a:solidFill>
              </a:rPr>
              <a:t>Verificando la calidad, seguridad y cumplimiento normativo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65760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Seguridad y Calidad en el Desarrollo de Software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bg2"/>
                </a:solidFill>
              </a:rPr>
              <a:t>Alison Aranda · Macarena Muñoz · Camilo Romero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Docente: Mauricio Velásquez · 17 de octubre de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Recorrido de la defensa</a:t>
            </a:r>
            <a:endParaRPr lang="en-US" sz="3000" dirty="0"/>
          </a:p>
        </p:txBody>
      </p:sp>
      <p:sp>
        <p:nvSpPr>
          <p:cNvPr id="3" name="Tarjeta índice 1"/>
          <p:cNvSpPr/>
          <p:nvPr/>
        </p:nvSpPr>
        <p:spPr>
          <a:xfrm>
            <a:off x="457200" y="1371600"/>
            <a:ext cx="25603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4" name="Icono índice 1 fondo"/>
          <p:cNvSpPr/>
          <p:nvPr/>
        </p:nvSpPr>
        <p:spPr>
          <a:xfrm>
            <a:off x="685800" y="16002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p/>
        </p:txBody>
      </p:sp>
      <p:pic>
        <p:nvPicPr>
          <p:cNvPr id="5" name="Icono índice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8446" y="1742846"/>
            <a:ext cx="263347" cy="26334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286000" y="16002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2402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El sistema bajo prueba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487168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SUT</a:t>
            </a:r>
            <a:endParaRPr lang="en-US" sz="1200" dirty="0"/>
          </a:p>
        </p:txBody>
      </p:sp>
      <p:sp>
        <p:nvSpPr>
          <p:cNvPr id="9" name="Tarjeta índice 2"/>
          <p:cNvSpPr/>
          <p:nvPr/>
        </p:nvSpPr>
        <p:spPr>
          <a:xfrm>
            <a:off x="3291840" y="1371600"/>
            <a:ext cx="25603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Icono índice 2 fondo"/>
          <p:cNvSpPr/>
          <p:nvPr/>
        </p:nvSpPr>
        <p:spPr>
          <a:xfrm>
            <a:off x="3520440" y="16002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p/>
        </p:txBody>
      </p:sp>
      <p:pic>
        <p:nvPicPr>
          <p:cNvPr id="11" name="Icono índice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3086" y="1742846"/>
            <a:ext cx="263347" cy="26334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120640" y="16002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13" name="Text 9"/>
          <p:cNvSpPr txBox="1"/>
          <p:nvPr/>
        </p:nvSpPr>
        <p:spPr>
          <a:xfrm>
            <a:off x="3520440" y="22402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De EP01 a EP3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3520440" y="2487168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Plan → ejecución</a:t>
            </a:r>
            <a:endParaRPr lang="en-US" sz="1200" dirty="0"/>
          </a:p>
        </p:txBody>
      </p:sp>
      <p:sp>
        <p:nvSpPr>
          <p:cNvPr id="15" name="Tarjeta índice 3"/>
          <p:cNvSpPr/>
          <p:nvPr/>
        </p:nvSpPr>
        <p:spPr>
          <a:xfrm>
            <a:off x="6126480" y="1371600"/>
            <a:ext cx="25603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6" name="Icono índice 3 fondo"/>
          <p:cNvSpPr/>
          <p:nvPr/>
        </p:nvSpPr>
        <p:spPr>
          <a:xfrm>
            <a:off x="6355080" y="16002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p/>
        </p:txBody>
      </p:sp>
      <p:pic>
        <p:nvPicPr>
          <p:cNvPr id="17" name="Icono índice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7726" y="1742846"/>
            <a:ext cx="263347" cy="26334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955280" y="16002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19" name="Text 14"/>
          <p:cNvSpPr txBox="1"/>
          <p:nvPr/>
        </p:nvSpPr>
        <p:spPr>
          <a:xfrm>
            <a:off x="6355080" y="22402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Estrategia y tipos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6355080" y="2487168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Origen e impacto</a:t>
            </a:r>
            <a:endParaRPr lang="en-US" sz="1200" dirty="0"/>
          </a:p>
        </p:txBody>
      </p:sp>
      <p:sp>
        <p:nvSpPr>
          <p:cNvPr id="21" name="Tarjeta índice 4"/>
          <p:cNvSpPr/>
          <p:nvPr/>
        </p:nvSpPr>
        <p:spPr>
          <a:xfrm>
            <a:off x="457200" y="3017520"/>
            <a:ext cx="25603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2" name="Icono índice 4 fondo"/>
          <p:cNvSpPr/>
          <p:nvPr/>
        </p:nvSpPr>
        <p:spPr>
          <a:xfrm>
            <a:off x="685800" y="32461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p/>
        </p:txBody>
      </p:sp>
      <p:pic>
        <p:nvPicPr>
          <p:cNvPr id="23" name="Icono índice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446" y="3388766"/>
            <a:ext cx="263347" cy="263347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2286000" y="32461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400" dirty="0"/>
          </a:p>
        </p:txBody>
      </p:sp>
      <p:sp>
        <p:nvSpPr>
          <p:cNvPr id="25" name="Text 19"/>
          <p:cNvSpPr txBox="1"/>
          <p:nvPr/>
        </p:nvSpPr>
        <p:spPr>
          <a:xfrm>
            <a:off x="685800" y="38862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Herramientas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685800" y="4133088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Docker y API</a:t>
            </a:r>
            <a:endParaRPr lang="en-US" sz="1200" dirty="0"/>
          </a:p>
        </p:txBody>
      </p:sp>
      <p:sp>
        <p:nvSpPr>
          <p:cNvPr id="27" name="Tarjeta índice 5"/>
          <p:cNvSpPr/>
          <p:nvPr/>
        </p:nvSpPr>
        <p:spPr>
          <a:xfrm>
            <a:off x="3291840" y="3017520"/>
            <a:ext cx="25603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8" name="Icono índice 5 fondo"/>
          <p:cNvSpPr/>
          <p:nvPr/>
        </p:nvSpPr>
        <p:spPr>
          <a:xfrm>
            <a:off x="3520440" y="32461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p/>
        </p:txBody>
      </p:sp>
      <p:pic>
        <p:nvPicPr>
          <p:cNvPr id="29" name="Icono índice 5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63086" y="3388766"/>
            <a:ext cx="263347" cy="263347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5120640" y="32461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400" dirty="0"/>
          </a:p>
        </p:txBody>
      </p:sp>
      <p:sp>
        <p:nvSpPr>
          <p:cNvPr id="31" name="Text 24"/>
          <p:cNvSpPr txBox="1"/>
          <p:nvPr/>
        </p:nvSpPr>
        <p:spPr>
          <a:xfrm>
            <a:off x="3520440" y="38862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Resultados reales</a:t>
            </a:r>
            <a:endParaRPr lang="en-US" sz="1500" dirty="0"/>
          </a:p>
        </p:txBody>
      </p:sp>
      <p:sp>
        <p:nvSpPr>
          <p:cNvPr id="32" name="Text 25"/>
          <p:cNvSpPr txBox="1"/>
          <p:nvPr/>
        </p:nvSpPr>
        <p:spPr>
          <a:xfrm>
            <a:off x="3520440" y="4133088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403, baja lógica, auditoría</a:t>
            </a:r>
            <a:endParaRPr lang="en-US" sz="1200" dirty="0"/>
          </a:p>
        </p:txBody>
      </p:sp>
      <p:sp>
        <p:nvSpPr>
          <p:cNvPr id="33" name="Tarjeta índice 6"/>
          <p:cNvSpPr/>
          <p:nvPr/>
        </p:nvSpPr>
        <p:spPr>
          <a:xfrm>
            <a:off x="6126480" y="3017520"/>
            <a:ext cx="25603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34" name="Icono índice 6 fondo"/>
          <p:cNvSpPr/>
          <p:nvPr/>
        </p:nvSpPr>
        <p:spPr>
          <a:xfrm>
            <a:off x="6355080" y="32461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p/>
        </p:txBody>
      </p:sp>
      <p:pic>
        <p:nvPicPr>
          <p:cNvPr id="35" name="Icono índice 6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7726" y="3388766"/>
            <a:ext cx="263347" cy="263347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7955280" y="32461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400" dirty="0"/>
          </a:p>
        </p:txBody>
      </p:sp>
      <p:sp>
        <p:nvSpPr>
          <p:cNvPr id="37" name="Text 29"/>
          <p:cNvSpPr txBox="1"/>
          <p:nvPr/>
        </p:nvSpPr>
        <p:spPr>
          <a:xfrm>
            <a:off x="6355080" y="38862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Incidentes y cierre</a:t>
            </a:r>
            <a:endParaRPr lang="en-US" sz="1500" dirty="0"/>
          </a:p>
        </p:txBody>
      </p:sp>
      <p:sp>
        <p:nvSpPr>
          <p:cNvPr id="38" name="Text 30"/>
          <p:cNvSpPr txBox="1"/>
          <p:nvPr/>
        </p:nvSpPr>
        <p:spPr>
          <a:xfrm>
            <a:off x="6355080" y="4133088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Ética, normas, veredicto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El sistema: Atlas</a:t>
            </a:r>
            <a:endParaRPr lang="en-US" sz="3000" dirty="0"/>
          </a:p>
        </p:txBody>
      </p:sp>
      <p:sp>
        <p:nvSpPr>
          <p:cNvPr id="3" name="Icono SUT 1 fondo"/>
          <p:cNvSpPr/>
          <p:nvPr/>
        </p:nvSpPr>
        <p:spPr>
          <a:xfrm>
            <a:off x="457200" y="1353312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p/>
        </p:txBody>
      </p:sp>
      <p:pic>
        <p:nvPicPr>
          <p:cNvPr id="4" name="Icono SUT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9846" y="1495958"/>
            <a:ext cx="263347" cy="263347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88720" y="129844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React 19 y Express 4.19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188720" y="162763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PostgreSQL 16 · JWT · RBAC</a:t>
            </a:r>
            <a:endParaRPr lang="en-US" sz="1300" dirty="0"/>
          </a:p>
        </p:txBody>
      </p:sp>
      <p:sp>
        <p:nvSpPr>
          <p:cNvPr id="7" name="Icono SUT 2 fondo"/>
          <p:cNvSpPr/>
          <p:nvPr/>
        </p:nvSpPr>
        <p:spPr>
          <a:xfrm>
            <a:off x="457200" y="21945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p/>
        </p:txBody>
      </p:sp>
      <p:pic>
        <p:nvPicPr>
          <p:cNvPr id="8" name="Icono SUT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846" y="2337206"/>
            <a:ext cx="263347" cy="263347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88720" y="213969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ERS v1.1 de CreaLab Spa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1188720" y="24688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RF-1 a RF-6 trazables</a:t>
            </a:r>
            <a:endParaRPr lang="en-US" sz="1300" dirty="0"/>
          </a:p>
        </p:txBody>
      </p:sp>
      <p:sp>
        <p:nvSpPr>
          <p:cNvPr id="11" name="Icono SUT 3 fondo"/>
          <p:cNvSpPr/>
          <p:nvPr/>
        </p:nvSpPr>
        <p:spPr>
          <a:xfrm>
            <a:off x="457200" y="3035808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p/>
        </p:txBody>
      </p:sp>
      <p:pic>
        <p:nvPicPr>
          <p:cNvPr id="12" name="Icono SUT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846" y="3178454"/>
            <a:ext cx="263347" cy="263347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188720" y="298094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Roles administrador y editor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1188720" y="331012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El editor solo lee (RB-4)</a:t>
            </a:r>
            <a:endParaRPr lang="en-US" sz="1300" dirty="0"/>
          </a:p>
        </p:txBody>
      </p:sp>
      <p:sp>
        <p:nvSpPr>
          <p:cNvPr id="15" name="Icono SUT 4 fondo"/>
          <p:cNvSpPr/>
          <p:nvPr/>
        </p:nvSpPr>
        <p:spPr>
          <a:xfrm>
            <a:off x="457200" y="3877056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p/>
        </p:txBody>
      </p:sp>
      <p:pic>
        <p:nvPicPr>
          <p:cNvPr id="16" name="Icono SUT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846" y="4019702"/>
            <a:ext cx="263347" cy="263347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188720" y="382219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Datos de clientes pyme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1188720" y="4151376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Contacto y banco cifrados · Ley 19.628</a:t>
            </a:r>
            <a:endParaRPr lang="en-US" sz="1300" dirty="0"/>
          </a:p>
        </p:txBody>
      </p:sp>
      <p:sp>
        <p:nvSpPr>
          <p:cNvPr id="19" name="Panel arquitectura"/>
          <p:cNvSpPr/>
          <p:nvPr/>
        </p:nvSpPr>
        <p:spPr>
          <a:xfrm>
            <a:off x="4937760" y="1280160"/>
            <a:ext cx="3749040" cy="3246120"/>
          </a:xfrm>
          <a:prstGeom prst="roundRect">
            <a:avLst>
              <a:gd name="adj" fmla="val 3380"/>
            </a:avLst>
          </a:prstGeom>
          <a:solidFill>
            <a:schemeClr val="bg2"/>
          </a:solidFill>
          <a:ln/>
        </p:spPr>
        <p:txBody>
          <a:bodyPr/>
          <a:p/>
        </p:txBody>
      </p:sp>
      <p:sp>
        <p:nvSpPr>
          <p:cNvPr id="20" name="Text 14"/>
          <p:cNvSpPr txBox="1"/>
          <p:nvPr/>
        </p:nvSpPr>
        <p:spPr>
          <a:xfrm>
            <a:off x="5212080" y="1417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ARQUITECTURA LIMPIA</a:t>
            </a:r>
            <a:endParaRPr lang="en-US" sz="1100" dirty="0"/>
          </a:p>
        </p:txBody>
      </p:sp>
      <p:sp>
        <p:nvSpPr>
          <p:cNvPr id="21" name="Capa infraestructura"/>
          <p:cNvSpPr/>
          <p:nvPr/>
        </p:nvSpPr>
        <p:spPr>
          <a:xfrm>
            <a:off x="5212080" y="1783080"/>
            <a:ext cx="3200400" cy="2560320"/>
          </a:xfrm>
          <a:prstGeom prst="roundRect">
            <a:avLst>
              <a:gd name="adj" fmla="val 4286"/>
            </a:avLst>
          </a:prstGeom>
          <a:solidFill>
            <a:schemeClr val="accent5"/>
          </a:solidFill>
          <a:ln/>
        </p:spPr>
        <p:txBody>
          <a:bodyPr/>
          <a:p/>
        </p:txBody>
      </p:sp>
      <p:sp>
        <p:nvSpPr>
          <p:cNvPr id="22" name="Text 16"/>
          <p:cNvSpPr txBox="1"/>
          <p:nvPr/>
        </p:nvSpPr>
        <p:spPr>
          <a:xfrm>
            <a:off x="5349240" y="18562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PostgreSQL, storage y REST</a:t>
            </a:r>
            <a:endParaRPr lang="en-US" sz="1200" dirty="0"/>
          </a:p>
        </p:txBody>
      </p:sp>
      <p:sp>
        <p:nvSpPr>
          <p:cNvPr id="23" name="Capa aplicación"/>
          <p:cNvSpPr/>
          <p:nvPr/>
        </p:nvSpPr>
        <p:spPr>
          <a:xfrm>
            <a:off x="5440680" y="2240280"/>
            <a:ext cx="2743200" cy="1874520"/>
          </a:xfrm>
          <a:prstGeom prst="roundRect">
            <a:avLst>
              <a:gd name="adj" fmla="val 5854"/>
            </a:avLst>
          </a:prstGeom>
          <a:solidFill>
            <a:schemeClr val="accent1"/>
          </a:solidFill>
          <a:ln/>
        </p:spPr>
        <p:txBody>
          <a:bodyPr/>
          <a:p/>
        </p:txBody>
      </p:sp>
      <p:sp>
        <p:nvSpPr>
          <p:cNvPr id="24" name="Text 18"/>
          <p:cNvSpPr txBox="1"/>
          <p:nvPr/>
        </p:nvSpPr>
        <p:spPr>
          <a:xfrm>
            <a:off x="5577840" y="23134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Auth, clientes y contratos</a:t>
            </a:r>
            <a:endParaRPr lang="en-US" sz="1200" dirty="0"/>
          </a:p>
        </p:txBody>
      </p:sp>
      <p:sp>
        <p:nvSpPr>
          <p:cNvPr id="25" name="Capa dominio"/>
          <p:cNvSpPr/>
          <p:nvPr/>
        </p:nvSpPr>
        <p:spPr>
          <a:xfrm>
            <a:off x="5715000" y="2697480"/>
            <a:ext cx="2194560" cy="109728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/>
        </p:spPr>
        <p:txBody>
          <a:bodyPr/>
          <a:p/>
        </p:txBody>
      </p:sp>
      <p:sp>
        <p:nvSpPr>
          <p:cNvPr id="26" name="Text 20"/>
          <p:cNvSpPr txBox="1"/>
          <p:nvPr/>
        </p:nvSpPr>
        <p:spPr>
          <a:xfrm>
            <a:off x="5715000" y="29260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Dominio</a:t>
            </a:r>
            <a:endParaRPr lang="en-US" sz="1600" dirty="0"/>
          </a:p>
        </p:txBody>
      </p:sp>
      <p:sp>
        <p:nvSpPr>
          <p:cNvPr id="27" name="Text 21"/>
          <p:cNvSpPr txBox="1"/>
          <p:nvPr/>
        </p:nvSpPr>
        <p:spPr>
          <a:xfrm>
            <a:off x="5715000" y="3246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Cliente, contrato y auditoría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De EP01 a EP3: del plan a la evidencia</a:t>
            </a:r>
            <a:endParaRPr lang="en-US" sz="3000" dirty="0"/>
          </a:p>
        </p:txBody>
      </p:sp>
      <p:sp>
        <p:nvSpPr>
          <p:cNvPr id="3" name="Tarjeta EP01"/>
          <p:cNvSpPr/>
          <p:nvPr/>
        </p:nvSpPr>
        <p:spPr>
          <a:xfrm>
            <a:off x="457200" y="1280160"/>
            <a:ext cx="35661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731520" y="14630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EP01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0574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Plan de pruebas (caso Atlas)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5146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accent5"/>
                </a:solidFill>
              </a:rPr>
              <a:t>Estrategia y tipos de prueba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accent5"/>
                </a:solidFill>
              </a:rPr>
              <a:t>Criterios, trazabilidad y ética</a:t>
            </a:r>
            <a:endParaRPr lang="en-US" sz="1400" dirty="0"/>
          </a:p>
        </p:txBody>
      </p:sp>
      <p:sp>
        <p:nvSpPr>
          <p:cNvPr id="7" name="Flecha fondo"/>
          <p:cNvSpPr/>
          <p:nvPr/>
        </p:nvSpPr>
        <p:spPr>
          <a:xfrm>
            <a:off x="4160520" y="2057400"/>
            <a:ext cx="822960" cy="82296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p/>
        </p:txBody>
      </p:sp>
      <p:pic>
        <p:nvPicPr>
          <p:cNvPr id="8" name="Flecha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0" y="2286000"/>
            <a:ext cx="365760" cy="365760"/>
          </a:xfrm>
          <a:prstGeom prst="rect">
            <a:avLst/>
          </a:prstGeom>
        </p:spPr>
      </p:pic>
      <p:sp>
        <p:nvSpPr>
          <p:cNvPr id="9" name="Tarjeta EP3"/>
          <p:cNvSpPr/>
          <p:nvPr/>
        </p:nvSpPr>
        <p:spPr>
          <a:xfrm>
            <a:off x="5120640" y="1280160"/>
            <a:ext cx="3566160" cy="2194560"/>
          </a:xfrm>
          <a:prstGeom prst="roundRect">
            <a:avLst>
              <a:gd name="adj" fmla="val 50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5394960" y="14630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EP3</a:t>
            </a:r>
            <a:endParaRPr lang="en-US" sz="3200" dirty="0"/>
          </a:p>
        </p:txBody>
      </p:sp>
      <p:sp>
        <p:nvSpPr>
          <p:cNvPr id="11" name="Text 8"/>
          <p:cNvSpPr txBox="1"/>
          <p:nvPr/>
        </p:nvSpPr>
        <p:spPr>
          <a:xfrm>
            <a:off x="5394960" y="20574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Ejecución sobre Atlas en Docker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5394960" y="25146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Login, 403, baja, documento y k6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Evidencia del 17-10-2026</a:t>
            </a:r>
            <a:endParaRPr lang="en-US" sz="1400" dirty="0"/>
          </a:p>
        </p:txBody>
      </p:sp>
      <p:sp>
        <p:nvSpPr>
          <p:cNvPr id="13" name="Banda meta"/>
          <p:cNvSpPr/>
          <p:nvPr/>
        </p:nvSpPr>
        <p:spPr>
          <a:xfrm>
            <a:off x="457200" y="3703320"/>
            <a:ext cx="8229600" cy="777240"/>
          </a:xfrm>
          <a:prstGeom prst="roundRect">
            <a:avLst>
              <a:gd name="adj" fmla="val 14118"/>
            </a:avLst>
          </a:prstGeom>
          <a:solidFill>
            <a:schemeClr val="tx1"/>
          </a:solidFill>
          <a:ln/>
        </p:spPr>
        <p:txBody>
          <a:bodyPr/>
          <a:p/>
        </p:txBody>
      </p:sp>
      <p:pic>
        <p:nvPicPr>
          <p:cNvPr id="14" name="Icono meta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931920"/>
            <a:ext cx="320040" cy="32004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280160" y="3703320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Meta: detectar, clasificar y remediar, sin “maquillar” resultados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Estrategia: enfoque mixto con prioridades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Solicitudes HTTP repetibles y revisión de la pantalla</a:t>
            </a:r>
            <a:endParaRPr lang="en-US" sz="1600" dirty="0"/>
          </a:p>
        </p:txBody>
      </p:sp>
      <p:sp>
        <p:nvSpPr>
          <p:cNvPr id="4" name="Paso 1"/>
          <p:cNvSpPr/>
          <p:nvPr/>
        </p:nvSpPr>
        <p:spPr>
          <a:xfrm>
            <a:off x="457200" y="1645920"/>
            <a:ext cx="1499616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Icono paso 1 fondo"/>
          <p:cNvSpPr/>
          <p:nvPr/>
        </p:nvSpPr>
        <p:spPr>
          <a:xfrm>
            <a:off x="932688" y="17830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p/>
        </p:txBody>
      </p:sp>
      <p:pic>
        <p:nvPicPr>
          <p:cNvPr id="6" name="Icono paso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334" y="1925726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2423160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Prioridad 1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624328"/>
            <a:ext cx="13167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Auth y RBAC</a:t>
            </a:r>
            <a:endParaRPr lang="en-US" sz="1400" dirty="0"/>
          </a:p>
        </p:txBody>
      </p:sp>
      <p:sp>
        <p:nvSpPr>
          <p:cNvPr id="9" name="Paso 2"/>
          <p:cNvSpPr/>
          <p:nvPr/>
        </p:nvSpPr>
        <p:spPr>
          <a:xfrm>
            <a:off x="2139696" y="1645920"/>
            <a:ext cx="1499616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Icono paso 2 fondo"/>
          <p:cNvSpPr/>
          <p:nvPr/>
        </p:nvSpPr>
        <p:spPr>
          <a:xfrm>
            <a:off x="2615184" y="17830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p/>
        </p:txBody>
      </p:sp>
      <p:pic>
        <p:nvPicPr>
          <p:cNvPr id="11" name="Icono paso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7830" y="1925726"/>
            <a:ext cx="263347" cy="26334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231136" y="2423160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Prioridad 2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2231136" y="2624328"/>
            <a:ext cx="13167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Clientes y contratos</a:t>
            </a:r>
            <a:endParaRPr lang="en-US" sz="1400" dirty="0"/>
          </a:p>
        </p:txBody>
      </p:sp>
      <p:sp>
        <p:nvSpPr>
          <p:cNvPr id="14" name="Paso 3"/>
          <p:cNvSpPr/>
          <p:nvPr/>
        </p:nvSpPr>
        <p:spPr>
          <a:xfrm>
            <a:off x="3822192" y="1645920"/>
            <a:ext cx="1499616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5" name="Icono paso 3 fondo"/>
          <p:cNvSpPr/>
          <p:nvPr/>
        </p:nvSpPr>
        <p:spPr>
          <a:xfrm>
            <a:off x="4297680" y="17830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p/>
        </p:txBody>
      </p:sp>
      <p:pic>
        <p:nvPicPr>
          <p:cNvPr id="16" name="Icono paso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0326" y="1925726"/>
            <a:ext cx="263347" cy="263347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3913632" y="2423160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Prioridad 3</a:t>
            </a:r>
            <a:endParaRPr lang="en-US" sz="1000" dirty="0"/>
          </a:p>
        </p:txBody>
      </p:sp>
      <p:sp>
        <p:nvSpPr>
          <p:cNvPr id="18" name="Text 13"/>
          <p:cNvSpPr txBox="1"/>
          <p:nvPr/>
        </p:nvSpPr>
        <p:spPr>
          <a:xfrm>
            <a:off x="3913632" y="2624328"/>
            <a:ext cx="13167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Documento y auditoría</a:t>
            </a:r>
            <a:endParaRPr lang="en-US" sz="1400" dirty="0"/>
          </a:p>
        </p:txBody>
      </p:sp>
      <p:sp>
        <p:nvSpPr>
          <p:cNvPr id="19" name="Paso 4"/>
          <p:cNvSpPr/>
          <p:nvPr/>
        </p:nvSpPr>
        <p:spPr>
          <a:xfrm>
            <a:off x="5504688" y="1645920"/>
            <a:ext cx="1499616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0" name="Icono paso 4 fondo"/>
          <p:cNvSpPr/>
          <p:nvPr/>
        </p:nvSpPr>
        <p:spPr>
          <a:xfrm>
            <a:off x="5980176" y="17830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p/>
        </p:txBody>
      </p:sp>
      <p:pic>
        <p:nvPicPr>
          <p:cNvPr id="21" name="Icono paso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2822" y="1925726"/>
            <a:ext cx="263347" cy="263347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596128" y="2423160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Prioridad 4</a:t>
            </a:r>
            <a:endParaRPr lang="en-US" sz="1000" dirty="0"/>
          </a:p>
        </p:txBody>
      </p:sp>
      <p:sp>
        <p:nvSpPr>
          <p:cNvPr id="23" name="Text 17"/>
          <p:cNvSpPr txBox="1"/>
          <p:nvPr/>
        </p:nvSpPr>
        <p:spPr>
          <a:xfrm>
            <a:off x="5596128" y="2624328"/>
            <a:ext cx="13167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Usabilidad</a:t>
            </a:r>
            <a:endParaRPr lang="en-US" sz="1400" dirty="0"/>
          </a:p>
        </p:txBody>
      </p:sp>
      <p:sp>
        <p:nvSpPr>
          <p:cNvPr id="24" name="Paso 5"/>
          <p:cNvSpPr/>
          <p:nvPr/>
        </p:nvSpPr>
        <p:spPr>
          <a:xfrm>
            <a:off x="7187184" y="1645920"/>
            <a:ext cx="1499616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5" name="Icono paso 5 fondo"/>
          <p:cNvSpPr/>
          <p:nvPr/>
        </p:nvSpPr>
        <p:spPr>
          <a:xfrm>
            <a:off x="7662672" y="17830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p/>
        </p:txBody>
      </p:sp>
      <p:pic>
        <p:nvPicPr>
          <p:cNvPr id="26" name="Icono paso 5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5318" y="1925726"/>
            <a:ext cx="263347" cy="263347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7278624" y="2423160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Prioridad 5</a:t>
            </a:r>
            <a:endParaRPr lang="en-US" sz="1000" dirty="0"/>
          </a:p>
        </p:txBody>
      </p:sp>
      <p:sp>
        <p:nvSpPr>
          <p:cNvPr id="28" name="Text 21"/>
          <p:cNvSpPr txBox="1"/>
          <p:nvPr/>
        </p:nvSpPr>
        <p:spPr>
          <a:xfrm>
            <a:off x="7278624" y="2624328"/>
            <a:ext cx="13167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Rendimiento</a:t>
            </a:r>
            <a:endParaRPr lang="en-US" sz="1400" dirty="0"/>
          </a:p>
        </p:txBody>
      </p:sp>
      <p:sp>
        <p:nvSpPr>
          <p:cNvPr id="29" name="Tarjeta entrada"/>
          <p:cNvSpPr/>
          <p:nvPr/>
        </p:nvSpPr>
        <p:spPr>
          <a:xfrm>
            <a:off x="457200" y="3337560"/>
            <a:ext cx="397764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  <p:txBody>
          <a:bodyPr/>
          <a:p/>
        </p:txBody>
      </p:sp>
      <p:sp>
        <p:nvSpPr>
          <p:cNvPr id="30" name="Text 23"/>
          <p:cNvSpPr txBox="1"/>
          <p:nvPr/>
        </p:nvSpPr>
        <p:spPr>
          <a:xfrm>
            <a:off x="731520" y="34747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ENTRADA</a:t>
            </a:r>
            <a:endParaRPr lang="en-US" sz="1100" dirty="0"/>
          </a:p>
        </p:txBody>
      </p:sp>
      <p:sp>
        <p:nvSpPr>
          <p:cNvPr id="31" name="Text 24"/>
          <p:cNvSpPr txBox="1"/>
          <p:nvPr/>
        </p:nvSpPr>
        <p:spPr>
          <a:xfrm>
            <a:off x="731520" y="376732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Docker · ERS · jperez y editor1</a:t>
            </a:r>
            <a:endParaRPr lang="en-US" sz="1600" dirty="0"/>
          </a:p>
        </p:txBody>
      </p:sp>
      <p:sp>
        <p:nvSpPr>
          <p:cNvPr id="32" name="Tarjeta salida"/>
          <p:cNvSpPr/>
          <p:nvPr/>
        </p:nvSpPr>
        <p:spPr>
          <a:xfrm>
            <a:off x="4709160" y="3337560"/>
            <a:ext cx="397764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  <p:txBody>
          <a:bodyPr/>
          <a:p/>
        </p:txBody>
      </p:sp>
      <p:sp>
        <p:nvSpPr>
          <p:cNvPr id="33" name="Text 26"/>
          <p:cNvSpPr txBox="1"/>
          <p:nvPr/>
        </p:nvSpPr>
        <p:spPr>
          <a:xfrm>
            <a:off x="4983480" y="34747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SALIDA</a:t>
            </a:r>
            <a:endParaRPr lang="en-US" sz="1100" dirty="0"/>
          </a:p>
        </p:txBody>
      </p:sp>
      <p:sp>
        <p:nvSpPr>
          <p:cNvPr id="34" name="Text 27"/>
          <p:cNvSpPr txBox="1"/>
          <p:nvPr/>
        </p:nvSpPr>
        <p:spPr>
          <a:xfrm>
            <a:off x="4983480" y="3767328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403 · baja lógica · k6 p95 1,28 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Tipos de prueba: origen e impacto</a:t>
            </a:r>
            <a:endParaRPr lang="en-US" sz="3000" dirty="0"/>
          </a:p>
        </p:txBody>
      </p:sp>
      <p:graphicFrame>
        <p:nvGraphicFramePr>
          <p:cNvPr id="7" name="Tabla tipos de prueb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011680"/>
                <a:gridCol w="2468880"/>
                <a:gridCol w="256032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Tipo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022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Herramienta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022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Origen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022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Impacto si se omite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0222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766E"/>
                          </a:solidFill>
                        </a:rPr>
                        <a:t>Funcional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F3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22B"/>
                          </a:solidFill>
                        </a:rPr>
                        <a:t>Login HTTP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F3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22B"/>
                          </a:solidFill>
                        </a:rPr>
                        <a:t>RF-1.1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F3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22B"/>
                          </a:solidFill>
                        </a:rPr>
                        <a:t>No se acredita la sesión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F3F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766E"/>
                          </a:solidFill>
                        </a:rPr>
                        <a:t>Seguridad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22B"/>
                          </a:solidFill>
                        </a:rPr>
                        <a:t>Rol en API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22B"/>
                          </a:solidFill>
                        </a:rPr>
                        <a:t>RB-4 y NFR-SEG-4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22B"/>
                          </a:solidFill>
                        </a:rPr>
                        <a:t>El editor escribe por API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766E"/>
                          </a:solidFill>
                        </a:rPr>
                        <a:t>Funcional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F3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22B"/>
                          </a:solidFill>
                        </a:rPr>
                        <a:t>Baja lógica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F3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22B"/>
                          </a:solidFill>
                        </a:rPr>
                        <a:t>RF-4.2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F3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22B"/>
                          </a:solidFill>
                        </a:rPr>
                        <a:t>Se pierde el cliente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F3F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766E"/>
                          </a:solidFill>
                        </a:rPr>
                        <a:t>Integración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22B"/>
                          </a:solidFill>
                        </a:rPr>
                        <a:t>Documento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22B"/>
                          </a:solidFill>
                        </a:rPr>
                        <a:t>RF-5 y RF-6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22B"/>
                          </a:solidFill>
                        </a:rPr>
                        <a:t>Archivo sin referencia ni auditoría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766E"/>
                          </a:solidFill>
                        </a:rPr>
                        <a:t>Rendimiento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F3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22B"/>
                          </a:solidFill>
                        </a:rPr>
                        <a:t>k6, 200 usuarios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F3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22B"/>
                          </a:solidFill>
                        </a:rPr>
                        <a:t>NFR-PERF-1/3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F3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22B"/>
                          </a:solidFill>
                        </a:rPr>
                        <a:t>Sin la medición no hay p95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F3F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766E"/>
                          </a:solidFill>
                        </a:rPr>
                        <a:t>Usabilidad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22B"/>
                          </a:solidFill>
                        </a:rPr>
                        <a:t>Pantalla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22B"/>
                          </a:solidFill>
                        </a:rPr>
                        <a:t>NFR-USAB-4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22B"/>
                          </a:solidFill>
                        </a:rPr>
                        <a:t>El flujo no guía al contrato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766E"/>
                          </a:solidFill>
                        </a:rPr>
                        <a:t>Estático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F3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22B"/>
                          </a:solidFill>
                        </a:rPr>
                        <a:t>Revisión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F3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22B"/>
                          </a:solidFill>
                        </a:rPr>
                        <a:t>NFR-SEG-5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F3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22B"/>
                          </a:solidFill>
                        </a:rPr>
                        <a:t>Consultas armadas con texto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F3F3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5262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Indicador IE4 · 38 % de la pauta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Herramientas de la ejecución</a:t>
            </a:r>
            <a:endParaRPr lang="en-US" sz="3000" dirty="0"/>
          </a:p>
        </p:txBody>
      </p:sp>
      <p:sp>
        <p:nvSpPr>
          <p:cNvPr id="3" name="Tarjeta herramienta 1"/>
          <p:cNvSpPr/>
          <p:nvPr/>
        </p:nvSpPr>
        <p:spPr>
          <a:xfrm>
            <a:off x="457200" y="1188720"/>
            <a:ext cx="25603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4" name="Icono herramienta 1 fondo"/>
          <p:cNvSpPr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p/>
        </p:txBody>
      </p:sp>
      <p:pic>
        <p:nvPicPr>
          <p:cNvPr id="5" name="Icono herramienta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490472"/>
            <a:ext cx="219456" cy="2194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14447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Auth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88366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Sesión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139696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JWT · bcrypt · logout</a:t>
            </a:r>
            <a:endParaRPr lang="en-US" sz="1200" dirty="0"/>
          </a:p>
        </p:txBody>
      </p:sp>
      <p:sp>
        <p:nvSpPr>
          <p:cNvPr id="9" name="Tarjeta herramienta 2"/>
          <p:cNvSpPr/>
          <p:nvPr/>
        </p:nvSpPr>
        <p:spPr>
          <a:xfrm>
            <a:off x="3291840" y="1188720"/>
            <a:ext cx="25603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Icono herramienta 2 fondo"/>
          <p:cNvSpPr/>
          <p:nvPr/>
        </p:nvSpPr>
        <p:spPr>
          <a:xfrm>
            <a:off x="3474720" y="13716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p/>
        </p:txBody>
      </p:sp>
      <p:pic>
        <p:nvPicPr>
          <p:cNvPr id="11" name="Icono herramienta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3592" y="1490472"/>
            <a:ext cx="219456" cy="21945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389120" y="14447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RBAC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3474720" y="188366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Rol en backend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3474720" y="2139696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403 al editor</a:t>
            </a:r>
            <a:endParaRPr lang="en-US" sz="1200" dirty="0"/>
          </a:p>
        </p:txBody>
      </p:sp>
      <p:sp>
        <p:nvSpPr>
          <p:cNvPr id="15" name="Tarjeta herramienta 3"/>
          <p:cNvSpPr/>
          <p:nvPr/>
        </p:nvSpPr>
        <p:spPr>
          <a:xfrm>
            <a:off x="6126480" y="1188720"/>
            <a:ext cx="25603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6" name="Icono herramienta 3 fondo"/>
          <p:cNvSpPr/>
          <p:nvPr/>
        </p:nvSpPr>
        <p:spPr>
          <a:xfrm>
            <a:off x="6309360" y="13716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p/>
        </p:txBody>
      </p:sp>
      <p:pic>
        <p:nvPicPr>
          <p:cNvPr id="17" name="Icono herramienta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232" y="1490472"/>
            <a:ext cx="219456" cy="219456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223760" y="14447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Datos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6309360" y="188366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PostgreSQL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6309360" y="2139696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Cifrado en reposo</a:t>
            </a:r>
            <a:endParaRPr lang="en-US" sz="1200" dirty="0"/>
          </a:p>
        </p:txBody>
      </p:sp>
      <p:sp>
        <p:nvSpPr>
          <p:cNvPr id="21" name="Tarjeta herramienta 4"/>
          <p:cNvSpPr/>
          <p:nvPr/>
        </p:nvSpPr>
        <p:spPr>
          <a:xfrm>
            <a:off x="457200" y="2788920"/>
            <a:ext cx="25603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2" name="Icono herramienta 4 fondo"/>
          <p:cNvSpPr/>
          <p:nvPr/>
        </p:nvSpPr>
        <p:spPr>
          <a:xfrm>
            <a:off x="640080" y="29718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p/>
        </p:txBody>
      </p:sp>
      <p:pic>
        <p:nvPicPr>
          <p:cNvPr id="23" name="Icono herramienta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3090672"/>
            <a:ext cx="219456" cy="21945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554480" y="30449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Docs</a:t>
            </a:r>
            <a:endParaRPr lang="en-US" sz="1200" dirty="0"/>
          </a:p>
        </p:txBody>
      </p:sp>
      <p:sp>
        <p:nvSpPr>
          <p:cNvPr id="25" name="Text 19"/>
          <p:cNvSpPr txBox="1"/>
          <p:nvPr/>
        </p:nvSpPr>
        <p:spPr>
          <a:xfrm>
            <a:off x="640080" y="348386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Storage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640080" y="3739896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PDF, DOC, PPT, JPG, PNG</a:t>
            </a:r>
            <a:endParaRPr lang="en-US" sz="1200" dirty="0"/>
          </a:p>
        </p:txBody>
      </p:sp>
      <p:sp>
        <p:nvSpPr>
          <p:cNvPr id="27" name="Tarjeta herramienta 5"/>
          <p:cNvSpPr/>
          <p:nvPr/>
        </p:nvSpPr>
        <p:spPr>
          <a:xfrm>
            <a:off x="3291840" y="2788920"/>
            <a:ext cx="25603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8" name="Icono herramienta 5 fondo"/>
          <p:cNvSpPr/>
          <p:nvPr/>
        </p:nvSpPr>
        <p:spPr>
          <a:xfrm>
            <a:off x="3474720" y="29718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p/>
        </p:txBody>
      </p:sp>
      <p:pic>
        <p:nvPicPr>
          <p:cNvPr id="29" name="Icono herramienta 5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93592" y="3090672"/>
            <a:ext cx="219456" cy="219456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4389120" y="30449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Audit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3474720" y="348386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Registro</a:t>
            </a:r>
            <a:endParaRPr lang="en-US" sz="1500" dirty="0"/>
          </a:p>
        </p:txBody>
      </p:sp>
      <p:sp>
        <p:nvSpPr>
          <p:cNvPr id="32" name="Text 25"/>
          <p:cNvSpPr txBox="1"/>
          <p:nvPr/>
        </p:nvSpPr>
        <p:spPr>
          <a:xfrm>
            <a:off x="3474720" y="3739896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Acciones críticas</a:t>
            </a:r>
            <a:endParaRPr lang="en-US" sz="1200" dirty="0"/>
          </a:p>
        </p:txBody>
      </p:sp>
      <p:sp>
        <p:nvSpPr>
          <p:cNvPr id="33" name="Tarjeta herramienta 6"/>
          <p:cNvSpPr/>
          <p:nvPr/>
        </p:nvSpPr>
        <p:spPr>
          <a:xfrm>
            <a:off x="6126480" y="2788920"/>
            <a:ext cx="25603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34" name="Icono herramienta 6 fondo"/>
          <p:cNvSpPr/>
          <p:nvPr/>
        </p:nvSpPr>
        <p:spPr>
          <a:xfrm>
            <a:off x="6309360" y="29718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p/>
        </p:txBody>
      </p:sp>
      <p:pic>
        <p:nvPicPr>
          <p:cNvPr id="35" name="Icono herramienta 6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8232" y="3090672"/>
            <a:ext cx="219456" cy="219456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7223760" y="30449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Ambiente</a:t>
            </a:r>
            <a:endParaRPr lang="en-US" sz="1200" dirty="0"/>
          </a:p>
        </p:txBody>
      </p:sp>
      <p:sp>
        <p:nvSpPr>
          <p:cNvPr id="37" name="Text 29"/>
          <p:cNvSpPr txBox="1"/>
          <p:nvPr/>
        </p:nvSpPr>
        <p:spPr>
          <a:xfrm>
            <a:off x="6309360" y="348386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Docker Compose</a:t>
            </a:r>
            <a:endParaRPr lang="en-US" sz="1500" dirty="0"/>
          </a:p>
        </p:txBody>
      </p:sp>
      <p:sp>
        <p:nvSpPr>
          <p:cNvPr id="38" name="Text 30"/>
          <p:cNvSpPr txBox="1"/>
          <p:nvPr/>
        </p:nvSpPr>
        <p:spPr>
          <a:xfrm>
            <a:off x="6309360" y="3739896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API 3010 · pantalla 8080</a:t>
            </a:r>
            <a:endParaRPr lang="en-US" sz="1200" dirty="0"/>
          </a:p>
        </p:txBody>
      </p:sp>
      <p:sp>
        <p:nvSpPr>
          <p:cNvPr id="39" name="Text 31"/>
          <p:cNvSpPr txBox="1"/>
          <p:nvPr/>
        </p:nvSpPr>
        <p:spPr>
          <a:xfrm>
            <a:off x="457200" y="44348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k6, ZAP, npm audit y Trivy quedaron anexados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Ejecución real: 17-10-2026</a:t>
            </a:r>
            <a:endParaRPr lang="en-US" sz="3000" dirty="0"/>
          </a:p>
        </p:txBody>
      </p:sp>
      <p:sp>
        <p:nvSpPr>
          <p:cNvPr id="3" name="Estadística 1"/>
          <p:cNvSpPr/>
          <p:nvPr/>
        </p:nvSpPr>
        <p:spPr>
          <a:xfrm>
            <a:off x="457200" y="1188720"/>
            <a:ext cx="1920240" cy="187452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594360" y="128016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031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login de jperez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4231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CP-FUN-01 · token emitido</a:t>
            </a:r>
            <a:endParaRPr lang="en-US" sz="1100" dirty="0"/>
          </a:p>
        </p:txBody>
      </p:sp>
      <p:sp>
        <p:nvSpPr>
          <p:cNvPr id="7" name="Estadística 2"/>
          <p:cNvSpPr/>
          <p:nvPr/>
        </p:nvSpPr>
        <p:spPr>
          <a:xfrm>
            <a:off x="2560320" y="1188720"/>
            <a:ext cx="1920240" cy="1874520"/>
          </a:xfrm>
          <a:prstGeom prst="roundRect">
            <a:avLst>
              <a:gd name="adj" fmla="val 5854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2697480" y="128016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403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2651760" y="21031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editor no escribe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651760" y="24231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CP-SEG-01 · POST y DELETE</a:t>
            </a:r>
            <a:endParaRPr lang="en-US" sz="1100" dirty="0"/>
          </a:p>
        </p:txBody>
      </p:sp>
      <p:sp>
        <p:nvSpPr>
          <p:cNvPr id="11" name="Estadística 3"/>
          <p:cNvSpPr/>
          <p:nvPr/>
        </p:nvSpPr>
        <p:spPr>
          <a:xfrm>
            <a:off x="4663440" y="1188720"/>
            <a:ext cx="1920240" cy="187452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4800600" y="128016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404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4754880" y="21031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tras la baja lógica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754880" y="24231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CP-FUN-02 · el registro no se borra</a:t>
            </a:r>
            <a:endParaRPr lang="en-US" sz="1100" dirty="0"/>
          </a:p>
        </p:txBody>
      </p:sp>
      <p:sp>
        <p:nvSpPr>
          <p:cNvPr id="15" name="Estadística 4"/>
          <p:cNvSpPr/>
          <p:nvPr/>
        </p:nvSpPr>
        <p:spPr>
          <a:xfrm>
            <a:off x="6766560" y="1188720"/>
            <a:ext cx="1920240" cy="187452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6903720" y="128016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0" y="21031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documento CT-0012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0" y="24231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CP-INT-01 · storage y enlace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3291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Códigos observados</a:t>
            </a:r>
            <a:endParaRPr lang="en-US" sz="1400" dirty="0"/>
          </a:p>
        </p:txBody>
      </p:sp>
      <p:sp>
        <p:nvSpPr>
          <p:cNvPr id="20" name="Código HTTP 201"/>
          <p:cNvSpPr/>
          <p:nvPr/>
        </p:nvSpPr>
        <p:spPr>
          <a:xfrm>
            <a:off x="457200" y="3657600"/>
            <a:ext cx="1920240" cy="82296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/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594360" y="3657600"/>
            <a:ext cx="777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365760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POST cliente temporal</a:t>
            </a:r>
            <a:endParaRPr lang="en-US" sz="1200" dirty="0"/>
          </a:p>
        </p:txBody>
      </p:sp>
      <p:sp>
        <p:nvSpPr>
          <p:cNvPr id="23" name="Código HTTP 409"/>
          <p:cNvSpPr/>
          <p:nvPr/>
        </p:nvSpPr>
        <p:spPr>
          <a:xfrm>
            <a:off x="2560320" y="3657600"/>
            <a:ext cx="1920240" cy="82296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/>
        </p:spPr>
        <p:txBody>
          <a:bodyPr/>
          <a:p/>
        </p:txBody>
      </p:sp>
      <p:sp>
        <p:nvSpPr>
          <p:cNvPr id="24" name="Text 22"/>
          <p:cNvSpPr txBox="1"/>
          <p:nvPr/>
        </p:nvSpPr>
        <p:spPr>
          <a:xfrm>
            <a:off x="2697480" y="3657600"/>
            <a:ext cx="777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403</a:t>
            </a:r>
            <a:endParaRPr lang="en-US" sz="2600" dirty="0"/>
          </a:p>
        </p:txBody>
      </p:sp>
      <p:sp>
        <p:nvSpPr>
          <p:cNvPr id="25" name="Text 23"/>
          <p:cNvSpPr txBox="1"/>
          <p:nvPr/>
        </p:nvSpPr>
        <p:spPr>
          <a:xfrm>
            <a:off x="3429000" y="365760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editor POST y DELETE</a:t>
            </a:r>
            <a:endParaRPr lang="en-US" sz="1200" dirty="0"/>
          </a:p>
        </p:txBody>
      </p:sp>
      <p:sp>
        <p:nvSpPr>
          <p:cNvPr id="26" name="Código HTTP 204"/>
          <p:cNvSpPr/>
          <p:nvPr/>
        </p:nvSpPr>
        <p:spPr>
          <a:xfrm>
            <a:off x="4663440" y="3657600"/>
            <a:ext cx="1920240" cy="82296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/>
        </p:spPr>
        <p:txBody>
          <a:bodyPr/>
          <a:p/>
        </p:txBody>
      </p:sp>
      <p:sp>
        <p:nvSpPr>
          <p:cNvPr id="27" name="Text 25"/>
          <p:cNvSpPr txBox="1"/>
          <p:nvPr/>
        </p:nvSpPr>
        <p:spPr>
          <a:xfrm>
            <a:off x="4800600" y="3657600"/>
            <a:ext cx="777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</a:t>
            </a:r>
            <a:endParaRPr lang="en-US" sz="2600" dirty="0"/>
          </a:p>
        </p:txBody>
      </p:sp>
      <p:sp>
        <p:nvSpPr>
          <p:cNvPr id="28" name="Text 26"/>
          <p:cNvSpPr txBox="1"/>
          <p:nvPr/>
        </p:nvSpPr>
        <p:spPr>
          <a:xfrm>
            <a:off x="5532120" y="365760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baja lógica</a:t>
            </a:r>
            <a:endParaRPr lang="en-US" sz="1200" dirty="0"/>
          </a:p>
        </p:txBody>
      </p:sp>
      <p:sp>
        <p:nvSpPr>
          <p:cNvPr id="29" name="Código HTTP 404"/>
          <p:cNvSpPr/>
          <p:nvPr/>
        </p:nvSpPr>
        <p:spPr>
          <a:xfrm>
            <a:off x="6766560" y="3657600"/>
            <a:ext cx="1920240" cy="82296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/>
        </p:spPr>
        <p:txBody>
          <a:bodyPr/>
          <a:p/>
        </p:txBody>
      </p:sp>
      <p:sp>
        <p:nvSpPr>
          <p:cNvPr id="30" name="Text 28"/>
          <p:cNvSpPr txBox="1"/>
          <p:nvPr/>
        </p:nvSpPr>
        <p:spPr>
          <a:xfrm>
            <a:off x="6903720" y="3657600"/>
            <a:ext cx="777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404</a:t>
            </a:r>
            <a:endParaRPr lang="en-US" sz="2600" dirty="0"/>
          </a:p>
        </p:txBody>
      </p:sp>
      <p:sp>
        <p:nvSpPr>
          <p:cNvPr id="31" name="Text 29"/>
          <p:cNvSpPr txBox="1"/>
          <p:nvPr/>
        </p:nvSpPr>
        <p:spPr>
          <a:xfrm>
            <a:off x="7635240" y="365760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cliente ya no aparece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Docker: ambiente de la prueba</a:t>
            </a:r>
            <a:endParaRPr lang="en-US" sz="3000" dirty="0"/>
          </a:p>
        </p:txBody>
      </p:sp>
      <p:sp>
        <p:nvSpPr>
          <p:cNvPr id="3" name="Icono Docker 1 fondo"/>
          <p:cNvSpPr/>
          <p:nvPr/>
        </p:nvSpPr>
        <p:spPr>
          <a:xfrm>
            <a:off x="457200" y="12344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p/>
        </p:txBody>
      </p:sp>
      <p:pic>
        <p:nvPicPr>
          <p:cNvPr id="4" name="Icono Docker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9846" y="1377086"/>
            <a:ext cx="263347" cy="263347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88720" y="11887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Servicios atlas-api, web y postgres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188720" y="151790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Node 22 y PostgreSQL 16</a:t>
            </a:r>
            <a:endParaRPr lang="en-US" sz="1300" dirty="0"/>
          </a:p>
        </p:txBody>
      </p:sp>
      <p:sp>
        <p:nvSpPr>
          <p:cNvPr id="7" name="Icono Docker 2 fondo"/>
          <p:cNvSpPr/>
          <p:nvPr/>
        </p:nvSpPr>
        <p:spPr>
          <a:xfrm>
            <a:off x="457200" y="20574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p/>
        </p:txBody>
      </p:sp>
      <p:pic>
        <p:nvPicPr>
          <p:cNvPr id="8" name="Icono Docker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846" y="2200046"/>
            <a:ext cx="263347" cy="263347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88720" y="20116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API con usuario node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1188720" y="234086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Documentos en volumen propio</a:t>
            </a:r>
            <a:endParaRPr lang="en-US" sz="1300" dirty="0"/>
          </a:p>
        </p:txBody>
      </p:sp>
      <p:sp>
        <p:nvSpPr>
          <p:cNvPr id="11" name="Icono Docker 3 fondo"/>
          <p:cNvSpPr/>
          <p:nvPr/>
        </p:nvSpPr>
        <p:spPr>
          <a:xfrm>
            <a:off x="457200" y="28803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p/>
        </p:txBody>
      </p:sp>
      <p:pic>
        <p:nvPicPr>
          <p:cNvPr id="12" name="Icono Docker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846" y="3023006"/>
            <a:ext cx="263347" cy="263347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188720" y="28346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Evidencia anexada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1188720" y="316382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evidencias/atlas/ejecucion-api.txt</a:t>
            </a:r>
            <a:endParaRPr lang="en-US" sz="1300" dirty="0"/>
          </a:p>
        </p:txBody>
      </p:sp>
      <p:sp>
        <p:nvSpPr>
          <p:cNvPr id="15" name="Estadística Trivy"/>
          <p:cNvSpPr/>
          <p:nvPr/>
        </p:nvSpPr>
        <p:spPr>
          <a:xfrm>
            <a:off x="5486400" y="1188720"/>
            <a:ext cx="3200400" cy="109728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6" name="Text 11"/>
          <p:cNvSpPr txBox="1"/>
          <p:nvPr/>
        </p:nvSpPr>
        <p:spPr>
          <a:xfrm>
            <a:off x="5669280" y="1188720"/>
            <a:ext cx="1005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</a:t>
            </a:r>
            <a:endParaRPr lang="en-US" sz="4800" dirty="0"/>
          </a:p>
        </p:txBody>
      </p:sp>
      <p:sp>
        <p:nvSpPr>
          <p:cNvPr id="17" name="Text 12"/>
          <p:cNvSpPr txBox="1"/>
          <p:nvPr/>
        </p:nvSpPr>
        <p:spPr>
          <a:xfrm>
            <a:off x="6675120" y="1188720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Trivy: 0 críticas en Alpine</a:t>
            </a:r>
            <a:endParaRPr lang="en-US" sz="1300" dirty="0"/>
          </a:p>
        </p:txBody>
      </p:sp>
      <p:sp>
        <p:nvSpPr>
          <p:cNvPr id="18" name="Estadística smoke test"/>
          <p:cNvSpPr/>
          <p:nvPr/>
        </p:nvSpPr>
        <p:spPr>
          <a:xfrm>
            <a:off x="5486400" y="2468880"/>
            <a:ext cx="3200400" cy="1097280"/>
          </a:xfrm>
          <a:prstGeom prst="roundRect">
            <a:avLst>
              <a:gd name="adj" fmla="val 10000"/>
            </a:avLst>
          </a:prstGeom>
          <a:solidFill>
            <a:schemeClr val="tx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9" name="Text 14"/>
          <p:cNvSpPr txBox="1"/>
          <p:nvPr/>
        </p:nvSpPr>
        <p:spPr>
          <a:xfrm>
            <a:off x="5669280" y="246888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8080</a:t>
            </a:r>
            <a:endParaRPr lang="en-US" sz="4800" dirty="0"/>
          </a:p>
        </p:txBody>
      </p:sp>
      <p:sp>
        <p:nvSpPr>
          <p:cNvPr id="20" name="Text 15"/>
          <p:cNvSpPr txBox="1"/>
          <p:nvPr/>
        </p:nvSpPr>
        <p:spPr>
          <a:xfrm>
            <a:off x="6995160" y="246888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pantalla en http://localhost:8080</a:t>
            </a:r>
            <a:endParaRPr lang="en-US" sz="1300" dirty="0"/>
          </a:p>
        </p:txBody>
      </p:sp>
      <p:sp>
        <p:nvSpPr>
          <p:cNvPr id="21" name="Banda origen impacto"/>
          <p:cNvSpPr/>
          <p:nvPr/>
        </p:nvSpPr>
        <p:spPr>
          <a:xfrm>
            <a:off x="457200" y="3749040"/>
            <a:ext cx="8229600" cy="640080"/>
          </a:xfrm>
          <a:prstGeom prst="roundRect">
            <a:avLst>
              <a:gd name="adj" fmla="val 17143"/>
            </a:avLst>
          </a:prstGeom>
          <a:solidFill>
            <a:schemeClr val="bg2"/>
          </a:solidFill>
          <a:ln/>
        </p:spPr>
        <p:txBody>
          <a:bodyPr/>
          <a:p/>
        </p:txBody>
      </p:sp>
      <p:sp>
        <p:nvSpPr>
          <p:cNvPr id="22" name="Text 17"/>
          <p:cNvSpPr txBox="1"/>
          <p:nvPr/>
        </p:nvSpPr>
        <p:spPr>
          <a:xfrm>
            <a:off x="731520" y="37490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Origen: que cualquiera reproduzca la prueba. Impacto si se omite: resultados no repetibles.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/>
            </a:r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/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/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Incidentes: origen e impacto</a:t>
            </a:r>
            <a:endParaRPr lang="en-US" sz="3000" dirty="0"/>
          </a:p>
        </p:txBody>
      </p:sp>
      <p:sp>
        <p:nvSpPr>
          <p:cNvPr id="3" name="Tarjeta INC-01"/>
          <p:cNvSpPr/>
          <p:nvPr/>
        </p:nvSpPr>
        <p:spPr>
          <a:xfrm>
            <a:off x="457200" y="1188720"/>
            <a:ext cx="3977640" cy="310896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731520" y="135331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INC-01</a:t>
            </a:r>
            <a:endParaRPr lang="en-US" sz="2000" dirty="0"/>
          </a:p>
        </p:txBody>
      </p:sp>
      <p:sp>
        <p:nvSpPr>
          <p:cNvPr id="5" name="Etiqueta severidad INC-01"/>
          <p:cNvSpPr/>
          <p:nvPr/>
        </p:nvSpPr>
        <p:spPr>
          <a:xfrm>
            <a:off x="2971800" y="1371600"/>
            <a:ext cx="1188720" cy="27432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2971800" y="1371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MODERADO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73736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Puerto 3000 ocupado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194560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5"/>
                </a:solidFill>
              </a:rPr>
              <a:t>ORIGEN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395728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Otro proyecto ya escuchaba en 3000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871216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5"/>
                </a:solidFill>
              </a:rPr>
              <a:t>IMPACTO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3072384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Postman al 3000 no vería Atlas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3547872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5"/>
                </a:solidFill>
              </a:rPr>
              <a:t>CIERRE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3749040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API publicada en el puerto 3010</a:t>
            </a:r>
            <a:endParaRPr lang="en-US" sz="1300" dirty="0"/>
          </a:p>
        </p:txBody>
      </p:sp>
      <p:sp>
        <p:nvSpPr>
          <p:cNvPr id="14" name="Tarjeta INC-02"/>
          <p:cNvSpPr/>
          <p:nvPr/>
        </p:nvSpPr>
        <p:spPr>
          <a:xfrm>
            <a:off x="4709160" y="1188720"/>
            <a:ext cx="3977640" cy="310896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4983480" y="135331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INC-02</a:t>
            </a:r>
            <a:endParaRPr lang="en-US" sz="2000" dirty="0"/>
          </a:p>
        </p:txBody>
      </p:sp>
      <p:sp>
        <p:nvSpPr>
          <p:cNvPr id="16" name="Etiqueta severidad INC-02"/>
          <p:cNvSpPr/>
          <p:nvPr/>
        </p:nvSpPr>
        <p:spPr>
          <a:xfrm>
            <a:off x="7223760" y="1371600"/>
            <a:ext cx="1188720" cy="27432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7223760" y="1371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GRAVE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983480" y="173736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Carga de 200 usuarios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983480" y="2194560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5"/>
                </a:solidFill>
              </a:rPr>
              <a:t>ORIGEN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983480" y="2395728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200 usuarios durante 20 segundos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983480" y="2871216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5"/>
                </a:solidFill>
              </a:rPr>
              <a:t>IMPACTO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4983480" y="3072384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p95 = 1,28 s, sobre 300 ms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983480" y="3547872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5"/>
                </a:solidFill>
              </a:rPr>
              <a:t>CIERRE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4983480" y="3749040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INC-02 abierto: no cumple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44348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INC-03: en localhost el tráfico es HTTP. TLS corresponde al despliegue.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Ética y normativa</a:t>
            </a:r>
            <a:endParaRPr lang="en-US" sz="3000" dirty="0"/>
          </a:p>
        </p:txBody>
      </p:sp>
      <p:sp>
        <p:nvSpPr>
          <p:cNvPr id="3" name="Principio 1"/>
          <p:cNvSpPr/>
          <p:nvPr/>
        </p:nvSpPr>
        <p:spPr>
          <a:xfrm>
            <a:off x="457200" y="1188720"/>
            <a:ext cx="192024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4" name="Icono principio 1 fondo"/>
          <p:cNvSpPr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p/>
        </p:txBody>
      </p:sp>
      <p:pic>
        <p:nvPicPr>
          <p:cNvPr id="5" name="Icono principio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490472"/>
            <a:ext cx="219456" cy="2194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19659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Confidencialidad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24028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Solo datos de prueba</a:t>
            </a:r>
            <a:endParaRPr lang="en-US" sz="1200" dirty="0"/>
          </a:p>
        </p:txBody>
      </p:sp>
      <p:sp>
        <p:nvSpPr>
          <p:cNvPr id="8" name="Principio 2"/>
          <p:cNvSpPr/>
          <p:nvPr/>
        </p:nvSpPr>
        <p:spPr>
          <a:xfrm>
            <a:off x="2560320" y="1188720"/>
            <a:ext cx="192024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9" name="Icono principio 2 fondo"/>
          <p:cNvSpPr/>
          <p:nvPr/>
        </p:nvSpPr>
        <p:spPr>
          <a:xfrm>
            <a:off x="2743200" y="13716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p/>
        </p:txBody>
      </p:sp>
      <p:pic>
        <p:nvPicPr>
          <p:cNvPr id="10" name="Icono principio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2072" y="1490472"/>
            <a:ext cx="219456" cy="21945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743200" y="19659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Veracidad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2743200" y="224028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Se informa el p95 de 1,28 s</a:t>
            </a:r>
            <a:endParaRPr lang="en-US" sz="1200" dirty="0"/>
          </a:p>
        </p:txBody>
      </p:sp>
      <p:sp>
        <p:nvSpPr>
          <p:cNvPr id="13" name="Principio 3"/>
          <p:cNvSpPr/>
          <p:nvPr/>
        </p:nvSpPr>
        <p:spPr>
          <a:xfrm>
            <a:off x="457200" y="2880360"/>
            <a:ext cx="192024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4" name="Icono principio 3 fondo"/>
          <p:cNvSpPr/>
          <p:nvPr/>
        </p:nvSpPr>
        <p:spPr>
          <a:xfrm>
            <a:off x="640080" y="30632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p/>
        </p:txBody>
      </p:sp>
      <p:pic>
        <p:nvPicPr>
          <p:cNvPr id="15" name="Icono principio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3182112"/>
            <a:ext cx="219456" cy="21945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40080" y="36576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No maleficencia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640080" y="393192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Escaneos solo en QA local</a:t>
            </a:r>
            <a:endParaRPr lang="en-US" sz="1200" dirty="0"/>
          </a:p>
        </p:txBody>
      </p:sp>
      <p:sp>
        <p:nvSpPr>
          <p:cNvPr id="18" name="Principio 4"/>
          <p:cNvSpPr/>
          <p:nvPr/>
        </p:nvSpPr>
        <p:spPr>
          <a:xfrm>
            <a:off x="2560320" y="2880360"/>
            <a:ext cx="192024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9" name="Icono principio 4 fondo"/>
          <p:cNvSpPr/>
          <p:nvPr/>
        </p:nvSpPr>
        <p:spPr>
          <a:xfrm>
            <a:off x="2743200" y="30632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p/>
        </p:txBody>
      </p:sp>
      <p:pic>
        <p:nvPicPr>
          <p:cNvPr id="20" name="Icono principio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2072" y="3182112"/>
            <a:ext cx="219456" cy="21945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2743200" y="36576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Mejora continua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2743200" y="393192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Remediación priorizada</a:t>
            </a:r>
            <a:endParaRPr lang="en-US" sz="1200" dirty="0"/>
          </a:p>
        </p:txBody>
      </p:sp>
      <p:sp>
        <p:nvSpPr>
          <p:cNvPr id="23" name="Norma 1"/>
          <p:cNvSpPr/>
          <p:nvPr/>
        </p:nvSpPr>
        <p:spPr>
          <a:xfrm>
            <a:off x="4846320" y="1188720"/>
            <a:ext cx="3840480" cy="1005840"/>
          </a:xfrm>
          <a:prstGeom prst="roundRect">
            <a:avLst>
              <a:gd name="adj" fmla="val 10909"/>
            </a:avLst>
          </a:prstGeom>
          <a:solidFill>
            <a:schemeClr val="tx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4" name="Text 18"/>
          <p:cNvSpPr txBox="1"/>
          <p:nvPr/>
        </p:nvSpPr>
        <p:spPr>
          <a:xfrm>
            <a:off x="5074920" y="135331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Ley 19.628 / 21.719</a:t>
            </a:r>
            <a:endParaRPr lang="en-US" sz="1500" dirty="0"/>
          </a:p>
        </p:txBody>
      </p:sp>
      <p:sp>
        <p:nvSpPr>
          <p:cNvPr id="25" name="Text 19"/>
          <p:cNvSpPr txBox="1"/>
          <p:nvPr/>
        </p:nvSpPr>
        <p:spPr>
          <a:xfrm>
            <a:off x="5074920" y="166420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Clientes, contacto y datos bancarios de prueba</a:t>
            </a:r>
            <a:endParaRPr lang="en-US" sz="1200" dirty="0"/>
          </a:p>
        </p:txBody>
      </p:sp>
      <p:sp>
        <p:nvSpPr>
          <p:cNvPr id="26" name="Norma 2"/>
          <p:cNvSpPr/>
          <p:nvPr/>
        </p:nvSpPr>
        <p:spPr>
          <a:xfrm>
            <a:off x="4846320" y="2331720"/>
            <a:ext cx="3840480" cy="1005840"/>
          </a:xfrm>
          <a:prstGeom prst="roundRect">
            <a:avLst>
              <a:gd name="adj" fmla="val 10909"/>
            </a:avLst>
          </a:prstGeom>
          <a:solidFill>
            <a:schemeClr val="tx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7" name="Text 21"/>
          <p:cNvSpPr txBox="1"/>
          <p:nvPr/>
        </p:nvSpPr>
        <p:spPr>
          <a:xfrm>
            <a:off x="5074920" y="249631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Ley 21.663</a:t>
            </a:r>
            <a:endParaRPr lang="en-US" sz="1500" dirty="0"/>
          </a:p>
        </p:txBody>
      </p:sp>
      <p:sp>
        <p:nvSpPr>
          <p:cNvPr id="28" name="Text 22"/>
          <p:cNvSpPr txBox="1"/>
          <p:nvPr/>
        </p:nvSpPr>
        <p:spPr>
          <a:xfrm>
            <a:off x="5074920" y="280720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RBAC, cifrado, auditoría y cabeceras</a:t>
            </a:r>
            <a:endParaRPr lang="en-US" sz="1200" dirty="0"/>
          </a:p>
        </p:txBody>
      </p:sp>
      <p:sp>
        <p:nvSpPr>
          <p:cNvPr id="29" name="Norma 3"/>
          <p:cNvSpPr/>
          <p:nvPr/>
        </p:nvSpPr>
        <p:spPr>
          <a:xfrm>
            <a:off x="4846320" y="3474720"/>
            <a:ext cx="3840480" cy="1005840"/>
          </a:xfrm>
          <a:prstGeom prst="roundRect">
            <a:avLst>
              <a:gd name="adj" fmla="val 10909"/>
            </a:avLst>
          </a:prstGeom>
          <a:solidFill>
            <a:schemeClr val="tx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30" name="Text 24"/>
          <p:cNvSpPr txBox="1"/>
          <p:nvPr/>
        </p:nvSpPr>
        <p:spPr>
          <a:xfrm>
            <a:off x="5074920" y="363931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OWASP · ISO 25010 / 27001 / 29119</a:t>
            </a:r>
            <a:endParaRPr lang="en-US" sz="1500" dirty="0"/>
          </a:p>
        </p:txBody>
      </p:sp>
      <p:sp>
        <p:nvSpPr>
          <p:cNvPr id="31" name="Text 25"/>
          <p:cNvSpPr txBox="1"/>
          <p:nvPr/>
        </p:nvSpPr>
        <p:spPr>
          <a:xfrm>
            <a:off x="5074920" y="395020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Calidad, seguridad y proceso con evidencia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Recomendaciones</a:t>
            </a:r>
            <a:endParaRPr lang="en-US" sz="3000" dirty="0"/>
          </a:p>
        </p:txBody>
      </p:sp>
      <p:sp>
        <p:nvSpPr>
          <p:cNvPr id="3" name="Recomendación 1"/>
          <p:cNvSpPr/>
          <p:nvPr/>
        </p:nvSpPr>
        <p:spPr>
          <a:xfrm>
            <a:off x="457200" y="1188720"/>
            <a:ext cx="8229600" cy="54864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/>
        </p:spPr>
        <p:txBody>
          <a:bodyPr/>
          <a:p/>
        </p:txBody>
      </p:sp>
      <p:sp>
        <p:nvSpPr>
          <p:cNvPr id="4" name="Número fondo 1"/>
          <p:cNvSpPr/>
          <p:nvPr/>
        </p:nvSpPr>
        <p:spPr>
          <a:xfrm>
            <a:off x="594360" y="1261872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594360" y="12618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18872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Bajar el p95 bajo 300 ms</a:t>
            </a:r>
            <a:endParaRPr lang="en-US" sz="1600" dirty="0"/>
          </a:p>
        </p:txBody>
      </p:sp>
      <p:sp>
        <p:nvSpPr>
          <p:cNvPr id="7" name="Etiqueta 1"/>
          <p:cNvSpPr/>
          <p:nvPr/>
        </p:nvSpPr>
        <p:spPr>
          <a:xfrm>
            <a:off x="7315200" y="1316736"/>
            <a:ext cx="1188720" cy="29260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7315200" y="131673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Entorno</a:t>
            </a:r>
            <a:endParaRPr lang="en-US" sz="1100" dirty="0"/>
          </a:p>
        </p:txBody>
      </p:sp>
      <p:sp>
        <p:nvSpPr>
          <p:cNvPr id="9" name="Recomendación 2"/>
          <p:cNvSpPr/>
          <p:nvPr/>
        </p:nvSpPr>
        <p:spPr>
          <a:xfrm>
            <a:off x="457200" y="1828800"/>
            <a:ext cx="8229600" cy="54864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/>
        </p:spPr>
        <p:txBody>
          <a:bodyPr/>
          <a:p/>
        </p:txBody>
      </p:sp>
      <p:sp>
        <p:nvSpPr>
          <p:cNvPr id="10" name="Número fondo 2"/>
          <p:cNvSpPr/>
          <p:nvPr/>
        </p:nvSpPr>
        <p:spPr>
          <a:xfrm>
            <a:off x="594360" y="1901952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594360" y="1901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18288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Publicar Atlas solo por HTTPS</a:t>
            </a:r>
            <a:endParaRPr lang="en-US" sz="1600" dirty="0"/>
          </a:p>
        </p:txBody>
      </p:sp>
      <p:sp>
        <p:nvSpPr>
          <p:cNvPr id="13" name="Etiqueta 2"/>
          <p:cNvSpPr/>
          <p:nvPr/>
        </p:nvSpPr>
        <p:spPr>
          <a:xfrm>
            <a:off x="7315200" y="1956816"/>
            <a:ext cx="1188720" cy="29260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7315200" y="195681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Calidad</a:t>
            </a:r>
            <a:endParaRPr lang="en-US" sz="1100" dirty="0"/>
          </a:p>
        </p:txBody>
      </p:sp>
      <p:sp>
        <p:nvSpPr>
          <p:cNvPr id="15" name="Recomendación 3"/>
          <p:cNvSpPr/>
          <p:nvPr/>
        </p:nvSpPr>
        <p:spPr>
          <a:xfrm>
            <a:off x="457200" y="2468880"/>
            <a:ext cx="8229600" cy="54864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/>
        </p:spPr>
        <p:txBody>
          <a:bodyPr/>
          <a:p/>
        </p:txBody>
      </p:sp>
      <p:sp>
        <p:nvSpPr>
          <p:cNvPr id="16" name="Número fondo 3"/>
          <p:cNvSpPr/>
          <p:nvPr/>
        </p:nvSpPr>
        <p:spPr>
          <a:xfrm>
            <a:off x="594360" y="2542032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594360" y="2542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246888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Agregar el correo de verificación del ERS</a:t>
            </a:r>
            <a:endParaRPr lang="en-US" sz="1600" dirty="0"/>
          </a:p>
        </p:txBody>
      </p:sp>
      <p:sp>
        <p:nvSpPr>
          <p:cNvPr id="19" name="Etiqueta 3"/>
          <p:cNvSpPr/>
          <p:nvPr/>
        </p:nvSpPr>
        <p:spPr>
          <a:xfrm>
            <a:off x="7315200" y="2596896"/>
            <a:ext cx="1188720" cy="29260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7315200" y="259689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Gates</a:t>
            </a:r>
            <a:endParaRPr lang="en-US" sz="1100" dirty="0"/>
          </a:p>
        </p:txBody>
      </p:sp>
      <p:sp>
        <p:nvSpPr>
          <p:cNvPr id="21" name="Recomendación 4"/>
          <p:cNvSpPr/>
          <p:nvPr/>
        </p:nvSpPr>
        <p:spPr>
          <a:xfrm>
            <a:off x="457200" y="3108960"/>
            <a:ext cx="8229600" cy="54864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/>
        </p:spPr>
        <p:txBody>
          <a:bodyPr/>
          <a:p/>
        </p:txBody>
      </p:sp>
      <p:sp>
        <p:nvSpPr>
          <p:cNvPr id="22" name="Número fondo 4"/>
          <p:cNvSpPr/>
          <p:nvPr/>
        </p:nvSpPr>
        <p:spPr>
          <a:xfrm>
            <a:off x="594360" y="3182112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594360" y="31821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1188720" y="310896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Parchear Express y las cabeceras</a:t>
            </a:r>
            <a:endParaRPr lang="en-US" sz="1600" dirty="0"/>
          </a:p>
        </p:txBody>
      </p:sp>
      <p:sp>
        <p:nvSpPr>
          <p:cNvPr id="25" name="Etiqueta 4"/>
          <p:cNvSpPr/>
          <p:nvPr/>
        </p:nvSpPr>
        <p:spPr>
          <a:xfrm>
            <a:off x="7315200" y="3236976"/>
            <a:ext cx="1188720" cy="29260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  <p:txBody>
          <a:bodyPr/>
          <a:p/>
        </p:txBody>
      </p:sp>
      <p:sp>
        <p:nvSpPr>
          <p:cNvPr id="26" name="Text 24"/>
          <p:cNvSpPr txBox="1"/>
          <p:nvPr/>
        </p:nvSpPr>
        <p:spPr>
          <a:xfrm>
            <a:off x="7315200" y="323697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Seguridad</a:t>
            </a:r>
            <a:endParaRPr lang="en-US" sz="1100" dirty="0"/>
          </a:p>
        </p:txBody>
      </p:sp>
      <p:sp>
        <p:nvSpPr>
          <p:cNvPr id="27" name="Recomendación 5"/>
          <p:cNvSpPr/>
          <p:nvPr/>
        </p:nvSpPr>
        <p:spPr>
          <a:xfrm>
            <a:off x="457200" y="3749040"/>
            <a:ext cx="8229600" cy="54864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/>
        </p:spPr>
        <p:txBody>
          <a:bodyPr/>
          <a:p/>
        </p:txBody>
      </p:sp>
      <p:sp>
        <p:nvSpPr>
          <p:cNvPr id="28" name="Número fondo 5"/>
          <p:cNvSpPr/>
          <p:nvPr/>
        </p:nvSpPr>
        <p:spPr>
          <a:xfrm>
            <a:off x="594360" y="3822192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p/>
        </p:txBody>
      </p:sp>
      <p:sp>
        <p:nvSpPr>
          <p:cNvPr id="29" name="Text 27"/>
          <p:cNvSpPr txBox="1"/>
          <p:nvPr/>
        </p:nvSpPr>
        <p:spPr>
          <a:xfrm>
            <a:off x="594360" y="38221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1188720" y="374904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Mantener el 403 en el backend</a:t>
            </a:r>
            <a:endParaRPr lang="en-US" sz="1600" dirty="0"/>
          </a:p>
        </p:txBody>
      </p:sp>
      <p:sp>
        <p:nvSpPr>
          <p:cNvPr id="31" name="Etiqueta 5"/>
          <p:cNvSpPr/>
          <p:nvPr/>
        </p:nvSpPr>
        <p:spPr>
          <a:xfrm>
            <a:off x="7315200" y="3877056"/>
            <a:ext cx="1188720" cy="29260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  <p:txBody>
          <a:bodyPr/>
          <a:p/>
        </p:txBody>
      </p:sp>
      <p:sp>
        <p:nvSpPr>
          <p:cNvPr id="32" name="Text 30"/>
          <p:cNvSpPr txBox="1"/>
          <p:nvPr/>
        </p:nvSpPr>
        <p:spPr>
          <a:xfrm>
            <a:off x="7315200" y="387705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Mantención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Veredicto y cierre</a:t>
            </a:r>
            <a:endParaRPr lang="en-US" sz="3000" dirty="0"/>
          </a:p>
        </p:txBody>
      </p:sp>
      <p:sp>
        <p:nvSpPr>
          <p:cNvPr id="3" name="Tarjeta veredicto"/>
          <p:cNvSpPr/>
          <p:nvPr/>
        </p:nvSpPr>
        <p:spPr>
          <a:xfrm>
            <a:off x="457200" y="1280160"/>
            <a:ext cx="5120640" cy="2103120"/>
          </a:xfrm>
          <a:prstGeom prst="roundRect">
            <a:avLst>
              <a:gd name="adj" fmla="val 5217"/>
            </a:avLst>
          </a:prstGeom>
          <a:solidFill>
            <a:schemeClr val="accent1"/>
          </a:solidFill>
          <a:ln/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777240" y="146304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VEREDICTO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78308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Atlas cumple login, RBAC, baja lógica, documento y auditoría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8803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Siguen abiertos el p95 y el TLS</a:t>
            </a:r>
            <a:endParaRPr lang="en-US" sz="1400" dirty="0"/>
          </a:p>
        </p:txBody>
      </p:sp>
      <p:sp>
        <p:nvSpPr>
          <p:cNvPr id="7" name="Tarjeta riesgos"/>
          <p:cNvSpPr/>
          <p:nvPr/>
        </p:nvSpPr>
        <p:spPr>
          <a:xfrm>
            <a:off x="5852160" y="1280160"/>
            <a:ext cx="2834640" cy="210312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 w="15875">
            <a:solidFill>
              <a:schemeClr val="accent3"/>
            </a:solidFill>
            <a:prstDash val="solid"/>
          </a:ln>
        </p:spPr>
        <p:txBody>
          <a:bodyPr/>
          <a:p/>
        </p:txBody>
      </p:sp>
      <p:pic>
        <p:nvPicPr>
          <p:cNvPr id="8" name="Icono riesg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0" y="1463040"/>
            <a:ext cx="320040" cy="32004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583680" y="14630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Riesgos residuales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126480" y="201168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Pendiente: p95 de 300 ms, TLS y CVE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/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6576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¿Preguntas?</a:t>
            </a:r>
            <a:endParaRPr lang="en-US" sz="32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251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Gracias · Alison Aranda · Camilo Romero · Macarena Muñoz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scudo Verificado">
  <a:themeElements>
    <a:clrScheme name="Escudo Verificado">
      <a:dk1>
        <a:srgbClr val="10222B"/>
      </a:dk1>
      <a:lt1>
        <a:srgbClr val="FFFFFF"/>
      </a:lt1>
      <a:dk2>
        <a:srgbClr val="0B4F4A"/>
      </a:dk2>
      <a:lt2>
        <a:srgbClr val="EDF3F3"/>
      </a:lt2>
      <a:accent1>
        <a:srgbClr val="0F766E"/>
      </a:accent1>
      <a:accent2>
        <a:srgbClr val="5EEAD4"/>
      </a:accent2>
      <a:accent3>
        <a:srgbClr val="F59E0B"/>
      </a:accent3>
      <a:accent4>
        <a:srgbClr val="DC2626"/>
      </a:accent4>
      <a:accent5>
        <a:srgbClr val="475569"/>
      </a:accent5>
      <a:accent6>
        <a:srgbClr val="0EA5E9"/>
      </a:accent6>
      <a:hlink>
        <a:srgbClr val="0F766E"/>
      </a:hlink>
      <a:folHlink>
        <a:srgbClr val="475569"/>
      </a:folHlink>
    </a:clrScheme>
    <a:fontScheme name="Escudo Verificado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API de Alumnos 15-all · EP4</dc:title>
  <dc:subject>PptxGenJS Presentation</dc:subject>
  <dc:creator>Alison Aranda · Macarena Muñoz · Camilo Romero</dc:creator>
  <cp:lastModifiedBy>Alison Aranda · Macarena Muñoz · Camilo Romero</cp:lastModifiedBy>
  <cp:revision>1</cp:revision>
  <dcterms:created xsi:type="dcterms:W3CDTF">2026-10-16T14:54:10Z</dcterms:created>
  <dcterms:modified xsi:type="dcterms:W3CDTF">2026-10-16T14:54:10Z</dcterms:modified>
</cp:coreProperties>
</file>