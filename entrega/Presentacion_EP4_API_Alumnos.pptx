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7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3D91"/>
                </a:solidFill>
                <a:latin typeface="Arial"/>
              </a:defRPr>
            </a:pPr>
            <a:r>
              <a:t>API de Alumnos · 15-all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Arial"/>
              </a:defRPr>
            </a:pPr>
            <a:r>
              <a:t>Verificando la calidad, seguridad y cumplimiento normativo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Arial"/>
              </a:defRPr>
            </a:pPr>
            <a:r>
              <a:t>ISY1102 · Seguridad y Calidad en el Desarrollo de Software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Arial"/>
              </a:defRPr>
            </a:pPr>
            <a:r>
              <a:t>Integrantes: Alison Aranda · Macarena Muñoz · Camilo Romero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Arial"/>
              </a:defRPr>
            </a:pPr>
            <a:r>
              <a:t>Docente: Mauricio Velásquez · 16 de octubre de 2026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Arial"/>
              </a:defRPr>
            </a:pPr>
            <a:r>
              <a:t>Defensa individual · 10 min + 5 min preguntas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7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D91"/>
                </a:solidFill>
                <a:latin typeface="Arial"/>
              </a:defRPr>
            </a:pPr>
            <a: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1. El sistema bajo prueba (SUT)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2. De EP01 (plan) a EP3 (ejecución)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3. Estrategia y tipos de prueba (origen e impacto)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4. Herramientas del pipeline 01–14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5. Ejecución y hallazgos reales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6. Incidentes, ética, recomendaciones y veredicto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7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D91"/>
                </a:solidFill>
                <a:latin typeface="Arial"/>
              </a:defRPr>
            </a:pPr>
            <a:r>
              <a:t>El sistema: API de Alumnos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Microservicio Spring Boot 3 + Maven + SQLite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CRUD /api/v1/alumnos · OpenAPI (Swagger/Redoc) · arquitectura limpia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Lab calidad - EJEMPLO/codigo/15-all: todas las herramientas en verde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Módulos 01–14 con variantes con-error / sin-error para contrastar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Datos sensibles de prueba: RUT, email, nombre (Ley 19.628 / 21.719)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7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D91"/>
                </a:solidFill>
                <a:latin typeface="Arial"/>
              </a:defRPr>
            </a:pPr>
            <a:r>
              <a:t>EP01 → EP3: qué cambia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EP01: se diseñó el plan de pruebas (caso Atlas)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EP3: se ejecuta el ciclo sobre el laboratorio de calidad del curso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Se hereda estrategia, tipos, criterios, evidencia y ética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Se agrega SAST/SCA/DAST/contenedor/carga con reportes reales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Meta: detectar, clasificar y remedir — no “maquillar” resultados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7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D91"/>
                </a:solidFill>
                <a:latin typeface="Arial"/>
              </a:defRPr>
            </a:pPr>
            <a:r>
              <a:t>Estrategia de pruebas (IE2)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Enfoque mixto: Maven/CI automatizado + revisión manual de reportes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Prioridad: estáticos → unitarias/cobertura → SCA/contenedor → DAST → carga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Entrada: JDK 21, Docker, proyecto 15-all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Salida: verify OK, ZAP FAIL=0, métricas bajo SLA, evidencia anexada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Seguridad y normativa son parte del aseguramiento, no un anexo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7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D91"/>
                </a:solidFill>
                <a:latin typeface="Arial"/>
              </a:defRPr>
            </a:pPr>
            <a:r>
              <a:t>Tipos de prueba: origen e impacto (IE4 · 38 %)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SAST (Spotless/PMD/SpotBugs/Sonar): origen = deuda/bugs ocultos → impacto = fallos en prod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Unitarias + PIT/JaCoCo: origen = reglas CRUD → impacto = lógica débil / falsa calidad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BDD Cucumber: origen = RUT único en lenguaje de negocio → impacto = reglas mal interpretadas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SCA Snyk + Trivy: origen = supply chain/imagen → impacto = CVE explotables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DAST ZAP: origen = app en runtime sin cabeceras → impacto = XSS/clickjacking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Carga Gatling/JMeter: origen = SLA → impacto = degradación bajo usuarios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7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D91"/>
                </a:solidFill>
                <a:latin typeface="Arial"/>
              </a:defRPr>
            </a:pPr>
            <a:r>
              <a:t>Herramientas (mapa rápido)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01–04 Spotless, Checkstyle, PMD, SpotBugs · 05–07 JUnit, PIT, JaCoCo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08 SonarQube · 09 Snyk · 10 Cucumber · 11 Docker+Trivy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12 OWASP ZAP · 13 Gatling · 14 JMeter · CI GitHub Actions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Justificación: cada herramienta cubre un riesgo distinto del ciclo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7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D91"/>
                </a:solidFill>
                <a:latin typeface="Arial"/>
              </a:defRPr>
            </a:pPr>
            <a:r>
              <a:t>Ejecución real —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mvn clean verify (JDK 21): BUILD SUCCESS · 46 tests · 0 fallos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JaCoCo: coverage checks OK · PIT: 94 % mutaciones eliminadas (16/17)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Funcional: POST 201 · RUT duplicado 409 · DELETE 204 · GET 404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Gatling: 10 OK · media 12 ms (SLA &lt; 2000) · JMeter: 10 OK · 0 errores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ZAP baseline: FAIL 0 · PASS 58 · cabeceras nosniff / DENY / CSP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7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D91"/>
                </a:solidFill>
                <a:latin typeface="Arial"/>
              </a:defRPr>
            </a:pPr>
            <a:r>
              <a:t>Incidentes: origen e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INC-01 MODERADO: Spotless falló por CRLF en Windows → spotless:apply (cerrado)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INC-02 GRAVE: Java 24 rompió Mockito (16 errors) → se instaló Temurin 21 (cerrado)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Origen INC-02: entorno distinto al requisito del lab (JDK 21)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Impacto: imposibilidad de demostrar Quality Gate hasta corregir el entorno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Didáctico: módulos con-error (Snyk/ZAP/Trivy) vs 15-all remediado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7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D91"/>
                </a:solidFill>
                <a:latin typeface="Arial"/>
              </a:defRPr>
            </a:pPr>
            <a:r>
              <a:t>Ética y normativa (IE6 / IE10)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Confidencialidad y datos de prueba (no RUT/email reales)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Veracidad: se reportó el fallo Spotless y el bloqueo por JDK 24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Divulgación responsable y no maleficencia (solo QA local)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Ley 19.628/21.719: datos de alumnos · Ley 21.663: controles ciber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OWASP / ISO 25010-27001-29119: cabeceras, pipeline y evidencia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7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D91"/>
                </a:solidFill>
                <a:latin typeface="Arial"/>
              </a:defRPr>
            </a:pPr>
            <a:r>
              <a:t>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Fijar JDK 21 en equipo y CI (evitar regresión Java 24)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.gitattributes eol=lf + Spotless en pre-commit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Completar SonarQube y Snyk con tokens del grupo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Si se expone la API: agregar autenticación (JWT/API key)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Mantener actualización de Spring Boot ante CVE transitivas (.snyk)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7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D91"/>
                </a:solidFill>
                <a:latin typeface="Arial"/>
              </a:defRPr>
            </a:pPr>
            <a:r>
              <a:t>Veredicto y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Con JDK 21, 15-all cumple calidad, DAST y rendimiento del laboratorio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De EP01 (diseñar) a EP3 (ejecutar con evidencia auditable)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Riesgos residuales: sin auth API · CVE transitivas documentadas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Preguntas — ¡gracias!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7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3D91"/>
                </a:solidFill>
                <a:latin typeface="Arial"/>
              </a:defRPr>
            </a:pPr>
            <a:r>
              <a:t>Docker + Trivy (CP-SEG-02)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latin typeface="Arial"/>
              </a:defRPr>
            </a:pPr>
            <a:r>
              <a:t>Imagen alumnos-api:1.0.0 · base eclipse-temurin:21-jre-alpine</a:t>
            </a:r>
          </a:p>
          <a:p>
            <a:pPr>
              <a:spcAft>
                <a:spcPts val="800"/>
              </a:spcAft>
              <a:defRPr sz="1600">
                <a:latin typeface="Arial"/>
              </a:defRPr>
            </a:pPr>
            <a:r>
              <a:t>Usuario no-root (app) · superficie mínima Alpine</a:t>
            </a:r>
          </a:p>
          <a:p>
            <a:pPr>
              <a:spcAft>
                <a:spcPts val="800"/>
              </a:spcAft>
              <a:defRPr sz="1600">
                <a:latin typeface="Arial"/>
              </a:defRPr>
            </a:pPr>
            <a:r>
              <a:t>docker run → smoke GET /api/v1/alumnos = 200</a:t>
            </a:r>
          </a:p>
          <a:p>
            <a:pPr>
              <a:spcAft>
                <a:spcPts val="800"/>
              </a:spcAft>
              <a:defRPr sz="1600">
                <a:latin typeface="Arial"/>
              </a:defRPr>
            </a:pPr>
            <a:r>
              <a:t>Trivy (OS, CRITICAL/HIGH): 0 vulnerabilidades</a:t>
            </a:r>
          </a:p>
          <a:p>
            <a:pPr>
              <a:spcAft>
                <a:spcPts val="800"/>
              </a:spcAft>
              <a:defRPr sz="1600">
                <a:latin typeface="Arial"/>
              </a:defRPr>
            </a:pPr>
            <a:r>
              <a:t>Origen: asegurar el empaquetado · Impacto si se omite: CVE en runtime / root</a:t>
            </a:r>
          </a:p>
          <a:p>
            <a:pPr>
              <a:spcAft>
                <a:spcPts val="800"/>
              </a:spcAft>
              <a:defRPr sz="1600">
                <a:latin typeface="Arial"/>
              </a:defRPr>
            </a:pPr>
            <a:r>
              <a:t>Nota: multi-stage falló por Spotless CRLF↔LF (Windows/Linux); se documentó</a:t>
            </a:r>
          </a:p>
          <a:p>
            <a:pPr>
              <a:spcAft>
                <a:spcPts val="800"/>
              </a:spcAft>
              <a:defRPr sz="1600">
                <a:latin typeface="Arial"/>
              </a:defRPr>
            </a:pPr>
            <a:r>
              <a:t>Evidencia: trabajo-grupo/evidencias/docker/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